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9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420ACC-6496-4BDB-90A1-53780D86FC9A}" type="datetimeFigureOut">
              <a:rPr lang="en-IN" smtClean="0"/>
              <a:t>08-03-2026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ADA22B-14AE-42B9-AB83-5E540716DC6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4934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distribution of currently-held product types. Suggestion: target cross-sell to dominant product segments.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Scatter shows relationship between premium (or proxy) and new coverage. Suggestion: test alternative predictors for pricing — age alone is weak.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Histogram showing customer age profile. Suggestion: tailor marketing and product features by cohort.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Income band distribution among customers. Suggestion: offer segmented product tiers by income.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Distribution of requested coverage amounts; may be skewed. Suggestion: review underwriting for very large exposures.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Log-scale view to inspect skew in coverage amounts. Suggestion: consider segmenting by coverage brackets.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Shows lead quality (Hot/Warm/Cold). Suggestion: prioritize Hot leads and nurture Cold leads.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Top categories for an extra categorical field (e.g., Gender). Suggestion: deeper segmentation/targeting for top groups.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0315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3043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156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0235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99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8157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05167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678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6308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42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13869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1509045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12302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770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5191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4629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7442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644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99" r:id="rId1"/>
    <p:sldLayoutId id="2147484100" r:id="rId2"/>
    <p:sldLayoutId id="2147484101" r:id="rId3"/>
    <p:sldLayoutId id="2147484102" r:id="rId4"/>
    <p:sldLayoutId id="2147484103" r:id="rId5"/>
    <p:sldLayoutId id="2147484104" r:id="rId6"/>
    <p:sldLayoutId id="2147484105" r:id="rId7"/>
    <p:sldLayoutId id="2147484106" r:id="rId8"/>
    <p:sldLayoutId id="2147484107" r:id="rId9"/>
    <p:sldLayoutId id="2147484108" r:id="rId10"/>
    <p:sldLayoutId id="2147484109" r:id="rId11"/>
    <p:sldLayoutId id="2147484110" r:id="rId12"/>
    <p:sldLayoutId id="2147484111" r:id="rId13"/>
    <p:sldLayoutId id="2147484112" r:id="rId14"/>
    <p:sldLayoutId id="2147484113" r:id="rId15"/>
    <p:sldLayoutId id="2147484114" r:id="rId16"/>
    <p:sldLayoutId id="214748411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6645" y="2251586"/>
            <a:ext cx="8839199" cy="973394"/>
          </a:xfrm>
        </p:spPr>
        <p:txBody>
          <a:bodyPr>
            <a:normAutofit fontScale="90000"/>
          </a:bodyPr>
          <a:lstStyle/>
          <a:p>
            <a:r>
              <a:rPr sz="6000" dirty="0"/>
              <a:t>Insurance Data — Key Insights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4EE6D6-12E2-8F34-858E-3A3B8F29B565}"/>
              </a:ext>
            </a:extLst>
          </p:cNvPr>
          <p:cNvSpPr txBox="1"/>
          <p:nvPr/>
        </p:nvSpPr>
        <p:spPr>
          <a:xfrm>
            <a:off x="275303" y="3409055"/>
            <a:ext cx="45130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Insurance Customer Analysis – Overview &amp; Insights"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329" y="764373"/>
            <a:ext cx="8976852" cy="1293028"/>
          </a:xfrm>
        </p:spPr>
        <p:txBody>
          <a:bodyPr/>
          <a:lstStyle/>
          <a:p>
            <a:r>
              <a:rPr dirty="0"/>
              <a:t>Business Overview — 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en-IN" dirty="0"/>
              <a:t>      </a:t>
            </a:r>
            <a:r>
              <a:rPr dirty="0"/>
              <a:t>Total records: 99,951</a:t>
            </a:r>
          </a:p>
          <a:p>
            <a:pPr lvl="1" algn="just"/>
            <a:r>
              <a:rPr dirty="0"/>
              <a:t>Average Age: 39.03</a:t>
            </a:r>
          </a:p>
          <a:p>
            <a:pPr lvl="1" algn="just"/>
            <a:r>
              <a:rPr dirty="0"/>
              <a:t>Income categories: 86508</a:t>
            </a:r>
            <a:endParaRPr lang="en-IN" dirty="0"/>
          </a:p>
          <a:p>
            <a:pPr lvl="1" algn="just"/>
            <a:r>
              <a:rPr dirty="0"/>
              <a:t>Distinct product types: 6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672525" y="261703"/>
            <a:ext cx="831612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/>
            </a:pPr>
            <a:r>
              <a:rPr lang="en-IN" sz="2400" b="1" dirty="0"/>
              <a:t>Product Adoption Analysis</a:t>
            </a:r>
            <a:endParaRPr lang="en-IN" sz="2800" b="1" dirty="0"/>
          </a:p>
        </p:txBody>
      </p:sp>
      <p:pic>
        <p:nvPicPr>
          <p:cNvPr id="4" name="Picture 3" descr="chart_product_ty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59" y="860128"/>
            <a:ext cx="5700718" cy="31390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9235" y="4272677"/>
            <a:ext cx="9494029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the chart shows:</a:t>
            </a:r>
            <a:br>
              <a:rPr lang="en-US" dirty="0"/>
            </a:br>
            <a:r>
              <a:rPr lang="en-US" sz="1600" dirty="0"/>
              <a:t>A bar chart showing how many customers currently own each product type</a:t>
            </a:r>
            <a:r>
              <a:rPr lang="en-US" dirty="0"/>
              <a:t>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 can see that certain product types are significantly more popular than others.</a:t>
            </a:r>
            <a:br>
              <a:rPr lang="en-US" sz="1600" dirty="0"/>
            </a:br>
            <a:r>
              <a:rPr lang="en-US" sz="1600" dirty="0"/>
              <a:t>This means customers tend to prefer specific products, while some offerings may not be performing as well.</a:t>
            </a:r>
            <a:r>
              <a:rPr lang="en-US" dirty="0"/>
              <a:t>.</a:t>
            </a:r>
          </a:p>
          <a:p>
            <a:r>
              <a:rPr lang="en-US" b="1" dirty="0"/>
              <a:t>Business Suggestions: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High-volume product types → target for cross-sell (sell </a:t>
            </a:r>
            <a:r>
              <a:rPr lang="en-US" sz="1600" dirty="0" err="1"/>
              <a:t>New_Product_Type</a:t>
            </a:r>
            <a:r>
              <a:rPr lang="en-US" sz="16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Low-volume products → review messaging, pricing, or distribution channels.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51913" y="245491"/>
            <a:ext cx="7405739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Relationship Analysis</a:t>
            </a:r>
          </a:p>
          <a:p>
            <a:r>
              <a:rPr lang="en-US" b="1" dirty="0"/>
              <a:t>"Premium  vs New Coverage </a:t>
            </a:r>
            <a:r>
              <a:rPr lang="en-US" sz="2800" b="1" dirty="0"/>
              <a:t>"</a:t>
            </a:r>
            <a:endParaRPr lang="en-US" sz="2800" dirty="0"/>
          </a:p>
        </p:txBody>
      </p:sp>
      <p:pic>
        <p:nvPicPr>
          <p:cNvPr id="4" name="Picture 3" descr="chart_premium_vs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79560"/>
            <a:ext cx="4989872" cy="309338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7484" y="4585389"/>
            <a:ext cx="8996515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Description: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This scatter plot compares customer age with the new coverage amount.</a:t>
            </a:r>
            <a:br>
              <a:rPr lang="en-US" sz="1600" dirty="0"/>
            </a:br>
            <a:r>
              <a:rPr lang="en-US" sz="1600" dirty="0"/>
              <a:t>The points are widely scattered with no strong pattern, meaning age alone does not predict how much coverage a customer chooses.</a:t>
            </a:r>
            <a:br>
              <a:rPr lang="en-US" sz="1600" dirty="0"/>
            </a:br>
            <a:r>
              <a:rPr lang="en-US" sz="1600" dirty="0"/>
              <a:t>.”</a:t>
            </a:r>
            <a:r>
              <a:rPr lang="en-US" b="1" dirty="0"/>
              <a:t>Suggestion:</a:t>
            </a:r>
            <a:r>
              <a:rPr lang="en-US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Don’t rely on age alone for pricing or underwriting; test other predictors (income, occupation, product type) and build segment-level pricing models.</a:t>
            </a:r>
            <a:r>
              <a:rPr sz="1600" dirty="0"/>
              <a:t>.</a:t>
            </a:r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29488" y="186705"/>
            <a:ext cx="4503373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/>
              <a:t>Customer Demographics</a:t>
            </a:r>
          </a:p>
          <a:p>
            <a:r>
              <a:rPr lang="en-US" sz="2800" b="1" dirty="0"/>
              <a:t>"</a:t>
            </a:r>
            <a:r>
              <a:rPr lang="en-US" b="1" dirty="0"/>
              <a:t>Age Distribution of Customers</a:t>
            </a:r>
            <a:r>
              <a:rPr lang="en-US" sz="2800" b="1" dirty="0"/>
              <a:t>"</a:t>
            </a:r>
            <a:endParaRPr 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249157" y="4395787"/>
            <a:ext cx="864568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/>
              <a:t>What the chart shows:</a:t>
            </a:r>
            <a:br>
              <a:rPr lang="en-US" sz="1600" dirty="0"/>
            </a:br>
            <a:r>
              <a:rPr lang="en-US" sz="1600" dirty="0"/>
              <a:t>A histogram showing how customers are distributed across different age groups.</a:t>
            </a:r>
          </a:p>
          <a:p>
            <a:r>
              <a:rPr lang="en-US" sz="1600" b="1" dirty="0"/>
              <a:t>Insights: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you see clustering between 25–40, these are your dominant working-age customers. Younger or older segments may be underrepresented.</a:t>
            </a:r>
          </a:p>
          <a:p>
            <a:r>
              <a:rPr lang="en-US" sz="1600" b="1" dirty="0"/>
              <a:t>Business Suggestions: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Focus marketing campaigns around the age segments with the highest density.</a:t>
            </a:r>
          </a:p>
          <a:p>
            <a:r>
              <a:rPr lang="en-US" sz="1600" dirty="0"/>
              <a:t>     If older segments are small, design simplified or senior-friendly insurance bundles</a:t>
            </a:r>
            <a:r>
              <a:rPr lang="en-US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BD3C79-DA05-B78B-FD42-4661E58ABC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488" y="1274622"/>
            <a:ext cx="6302478" cy="305668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89648" y="147745"/>
            <a:ext cx="3301481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b="1" dirty="0"/>
              <a:t>Income Segmentation</a:t>
            </a:r>
          </a:p>
          <a:p>
            <a:r>
              <a:rPr lang="en-IN" b="1" dirty="0"/>
              <a:t>"Income Category Distribution"</a:t>
            </a:r>
            <a:endParaRPr lang="en-IN" dirty="0"/>
          </a:p>
          <a:p>
            <a:pPr>
              <a:defRPr sz="2200" b="1"/>
            </a:pPr>
            <a:endParaRPr dirty="0"/>
          </a:p>
        </p:txBody>
      </p:sp>
      <p:pic>
        <p:nvPicPr>
          <p:cNvPr id="4" name="Picture 3" descr="chart_income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648" y="975389"/>
            <a:ext cx="5724675" cy="315222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96644" y="4124932"/>
            <a:ext cx="8947355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the chart shows:</a:t>
            </a:r>
            <a:br>
              <a:rPr lang="en-US" dirty="0"/>
            </a:br>
            <a:r>
              <a:rPr lang="en-US" dirty="0"/>
              <a:t>A histogram showing how customers fall into various income categories (1–10.).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income category 1 or 2 dominates → customer base is primarily lower-income.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category 4–5 dominates → higher potential for selling investment or premium coverage plans.</a:t>
            </a:r>
          </a:p>
          <a:p>
            <a:r>
              <a:rPr lang="en-US" b="1" dirty="0"/>
              <a:t>Business Suggestions: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Align product pricing strategy with income clusters.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different “income-segmented” plans to increase conversion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98543" y="182880"/>
            <a:ext cx="341862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rPr sz="2800" dirty="0"/>
              <a:t>Coverage Distribution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1942" y="4272677"/>
            <a:ext cx="8855916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the chart shows:</a:t>
            </a:r>
            <a:br>
              <a:rPr lang="en-US" dirty="0"/>
            </a:br>
            <a:r>
              <a:rPr lang="en-US" sz="1600" dirty="0"/>
              <a:t>A histogram of the New Coverage Amount.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Shows whether customers prefer low, mid, or extremely high coverage policies.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Can reveal skewness — e.g., few customers taking very high coverage</a:t>
            </a:r>
            <a:r>
              <a:rPr lang="en-US" dirty="0"/>
              <a:t>.</a:t>
            </a:r>
          </a:p>
          <a:p>
            <a:r>
              <a:rPr lang="en-US" b="1" dirty="0"/>
              <a:t>Business Suggestions: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high-coverage customers → consider enhanced risk assessment &amp; underwriting.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For low-coverage groups → upsell to increase average policy value (APV).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D4383D-4C72-4F97-DE9F-CBB7D9D370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122" y="930064"/>
            <a:ext cx="6656439" cy="31186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15761" y="0"/>
            <a:ext cx="647017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Coverage Skew Analysis</a:t>
            </a:r>
          </a:p>
          <a:p>
            <a:r>
              <a:rPr lang="en-US" b="1" dirty="0"/>
              <a:t>"Log(1 + Coverage) Transformation"</a:t>
            </a:r>
            <a:endParaRPr lang="en-US" dirty="0"/>
          </a:p>
          <a:p>
            <a:pPr>
              <a:defRPr sz="2200" b="1"/>
            </a:pP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127270" y="4445164"/>
            <a:ext cx="9016730" cy="19082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Insights: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Applying a log(1 + x) transformation shows that New Coverage values are </a:t>
            </a:r>
            <a:r>
              <a:rPr lang="en-US" sz="1600" b="1" dirty="0"/>
              <a:t>highly right-skewed</a:t>
            </a:r>
            <a:r>
              <a:rPr lang="en-US" sz="1600" dirty="0"/>
              <a:t>, meaning a few customers request very high coverage while most ask for lower or moderate levels</a:t>
            </a:r>
            <a:r>
              <a:rPr lang="en-US" dirty="0"/>
              <a:t>.</a:t>
            </a:r>
          </a:p>
          <a:p>
            <a:r>
              <a:rPr lang="en-US" b="1" dirty="0"/>
              <a:t>Business Suggestions: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Create tiered insurance offerings: </a:t>
            </a:r>
            <a:r>
              <a:rPr lang="en-US" sz="1600" b="1" dirty="0"/>
              <a:t>standard</a:t>
            </a:r>
            <a:r>
              <a:rPr lang="en-US" sz="1600" dirty="0"/>
              <a:t> packages for the majority low-coverage customers and </a:t>
            </a:r>
            <a:r>
              <a:rPr lang="en-US" sz="1600" b="1" dirty="0"/>
              <a:t>premium/high-value</a:t>
            </a:r>
            <a:r>
              <a:rPr lang="en-US" sz="1600" dirty="0"/>
              <a:t> packages for the small high-coverage group</a:t>
            </a:r>
            <a:endParaRPr sz="16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A869F6-3581-B74D-3985-EC85CCD384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961" y="1019527"/>
            <a:ext cx="7305368" cy="317884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182880"/>
            <a:ext cx="5220725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/>
              <a:t>Lead Quality Analysis</a:t>
            </a:r>
          </a:p>
          <a:p>
            <a:r>
              <a:rPr lang="en-US" b="1" dirty="0"/>
              <a:t>"Customer Rating Distribution (Hot / Warm / Cold)"</a:t>
            </a:r>
            <a:endParaRPr lang="en-US" dirty="0"/>
          </a:p>
          <a:p>
            <a:pPr>
              <a:defRPr sz="2200" b="1"/>
            </a:pPr>
            <a:endParaRPr dirty="0"/>
          </a:p>
        </p:txBody>
      </p:sp>
      <p:pic>
        <p:nvPicPr>
          <p:cNvPr id="4" name="Picture 3" descr="chart_rat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486" y="844298"/>
            <a:ext cx="5724341" cy="35517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5014" y="4396002"/>
            <a:ext cx="7795724" cy="22159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b="1" dirty="0"/>
              <a:t>What the chart shows:</a:t>
            </a:r>
            <a:br>
              <a:rPr lang="en-US" dirty="0"/>
            </a:br>
            <a:r>
              <a:rPr lang="en-US" sz="1600" dirty="0"/>
              <a:t>A bar chart of Rating segments (Hot, Warm, Cold).</a:t>
            </a:r>
            <a:endParaRPr lang="en-US" dirty="0"/>
          </a:p>
          <a:p>
            <a:r>
              <a:rPr lang="en-US" b="1" dirty="0"/>
              <a:t>Insights: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Shows the quality of leads (Hot/Warm/Cold).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If Cold leads dominate → conversion will be low unless re-engaged</a:t>
            </a:r>
            <a:r>
              <a:rPr lang="en-US" dirty="0"/>
              <a:t>.</a:t>
            </a:r>
          </a:p>
          <a:p>
            <a:r>
              <a:rPr lang="en-US" b="1" dirty="0"/>
              <a:t>Business Suggestions: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Prioritize </a:t>
            </a:r>
            <a:r>
              <a:rPr lang="en-US" sz="1600" b="1" dirty="0"/>
              <a:t>Hot</a:t>
            </a:r>
            <a:r>
              <a:rPr lang="en-US" sz="1600" dirty="0"/>
              <a:t> and </a:t>
            </a:r>
            <a:r>
              <a:rPr lang="en-US" sz="1600" b="1" dirty="0"/>
              <a:t>Warm</a:t>
            </a:r>
            <a:r>
              <a:rPr lang="en-US" sz="1600" dirty="0"/>
              <a:t> leads in the upcoming campaign.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Build automated nurturing workflows for Cold leads to improve activation</a:t>
            </a:r>
            <a:r>
              <a:rPr lang="en-US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5760" y="182880"/>
            <a:ext cx="5001882" cy="98488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IN" b="1" dirty="0"/>
              <a:t>Gender Segmentation</a:t>
            </a:r>
          </a:p>
          <a:p>
            <a:r>
              <a:rPr lang="en-IN" b="1" dirty="0"/>
              <a:t>"Top Gender Categories – Market Concentration"</a:t>
            </a:r>
            <a:endParaRPr lang="en-IN" dirty="0"/>
          </a:p>
          <a:p>
            <a:pPr>
              <a:defRPr sz="2200" b="1"/>
            </a:pPr>
            <a:endParaRPr dirty="0"/>
          </a:p>
        </p:txBody>
      </p:sp>
      <p:pic>
        <p:nvPicPr>
          <p:cNvPr id="4" name="Picture 3" descr="chart_top_categories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37" y="1068767"/>
            <a:ext cx="5773502" cy="28575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4846" y="4149212"/>
            <a:ext cx="8046720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What the chart shows :</a:t>
            </a:r>
          </a:p>
          <a:p>
            <a:r>
              <a:rPr lang="en-US" sz="1600" dirty="0"/>
              <a:t>Top buyers in gender</a:t>
            </a:r>
            <a:r>
              <a:rPr lang="en-US" dirty="0"/>
              <a:t>.</a:t>
            </a:r>
          </a:p>
          <a:p>
            <a:r>
              <a:rPr lang="en-US" b="1" dirty="0"/>
              <a:t>Insights: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The dataset shows a strong concentration in specific gender categories, indicating that a majority of customers fall under one dominant gender group </a:t>
            </a:r>
            <a:r>
              <a:rPr lang="en-US" sz="1600" dirty="0" err="1"/>
              <a:t>i.e</a:t>
            </a:r>
            <a:r>
              <a:rPr lang="en-US" sz="1600" dirty="0"/>
              <a:t> ‘Male’.</a:t>
            </a:r>
            <a:endParaRPr lang="en-IN" dirty="0"/>
          </a:p>
          <a:p>
            <a:r>
              <a:rPr lang="en-US" b="1" dirty="0"/>
              <a:t>Business Suggestions: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Develop targeted campaigns or product bundles that appeal more specifically to the smaller gender group</a:t>
            </a:r>
            <a:r>
              <a:rPr lang="en-US" dirty="0"/>
              <a:t>.</a:t>
            </a:r>
            <a:endParaRPr lang="en-IN" dirty="0"/>
          </a:p>
          <a:p>
            <a:endParaRPr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E642CD-7611-CC8D-2271-BA26EA8704A4}"/>
              </a:ext>
            </a:extLst>
          </p:cNvPr>
          <p:cNvSpPr txBox="1"/>
          <p:nvPr/>
        </p:nvSpPr>
        <p:spPr>
          <a:xfrm>
            <a:off x="309716" y="678426"/>
            <a:ext cx="8524568" cy="52014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 and Business Recommendations“</a:t>
            </a:r>
          </a:p>
          <a:p>
            <a:endParaRPr lang="en-US" dirty="0"/>
          </a:p>
          <a:p>
            <a:r>
              <a:rPr lang="en-US" b="1" dirty="0"/>
              <a:t>Insights: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Customer base is dominated by ages </a:t>
            </a:r>
            <a:r>
              <a:rPr lang="en-US" sz="1600" b="1" dirty="0"/>
              <a:t>25–40</a:t>
            </a:r>
            <a:r>
              <a:rPr lang="en-US" sz="1600" dirty="0"/>
              <a:t>, indicating strong representation of working professionals.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Coverage distribution is </a:t>
            </a:r>
            <a:r>
              <a:rPr lang="en-US" sz="1600" b="1" dirty="0"/>
              <a:t>highly skewed</a:t>
            </a:r>
            <a:r>
              <a:rPr lang="en-US" sz="1600" dirty="0"/>
              <a:t>, with most customers selecting low-to-mid coverage amounts.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Lead ratings show a healthy share of Hot and Warm leads, but Cold leads still represent </a:t>
            </a:r>
            <a:r>
              <a:rPr lang="en-US" sz="1600" b="1" dirty="0"/>
              <a:t>churn risk</a:t>
            </a:r>
            <a:r>
              <a:rPr lang="en-US" sz="1600" dirty="0"/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Gender distribution reveals </a:t>
            </a:r>
            <a:r>
              <a:rPr lang="en-US" sz="1600" b="1" dirty="0"/>
              <a:t>uneven segmentation</a:t>
            </a:r>
            <a:r>
              <a:rPr lang="en-US" sz="1600" dirty="0"/>
              <a:t>, suggesting marketing imbalance</a:t>
            </a:r>
            <a:r>
              <a:rPr lang="en-US" sz="1400" dirty="0"/>
              <a:t>.</a:t>
            </a:r>
          </a:p>
          <a:p>
            <a:endParaRPr lang="en-US" b="1" dirty="0"/>
          </a:p>
          <a:p>
            <a:r>
              <a:rPr lang="en-US" b="1" dirty="0"/>
              <a:t>Recommendations</a:t>
            </a:r>
            <a:r>
              <a:rPr lang="en-US" sz="1400" b="1" dirty="0"/>
              <a:t>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Develop </a:t>
            </a:r>
            <a:r>
              <a:rPr lang="en-US" sz="1600" b="1" dirty="0"/>
              <a:t>tiered insurance products</a:t>
            </a:r>
            <a:r>
              <a:rPr lang="en-US" sz="1600" dirty="0"/>
              <a:t> targeted at different income and coverage segments.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Increase </a:t>
            </a:r>
            <a:r>
              <a:rPr lang="en-US" sz="1600" b="1" dirty="0"/>
              <a:t>cross-selling</a:t>
            </a:r>
            <a:r>
              <a:rPr lang="en-US" sz="1600" dirty="0"/>
              <a:t> for the top product categories and redesign offerings for weaker ones.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600" dirty="0"/>
              <a:t>Strengthen marketing for the </a:t>
            </a:r>
            <a:r>
              <a:rPr lang="en-US" sz="1600" b="1" dirty="0"/>
              <a:t>underrepresented gender segment</a:t>
            </a:r>
            <a:r>
              <a:rPr lang="en-US" sz="1600" dirty="0"/>
              <a:t> to diversify the customer base.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35678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3279</TotalTime>
  <Words>921</Words>
  <Application>Microsoft Office PowerPoint</Application>
  <PresentationFormat>On-screen Show (4:3)</PresentationFormat>
  <Paragraphs>87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Century Gothic</vt:lpstr>
      <vt:lpstr>Wingdings 3</vt:lpstr>
      <vt:lpstr>Ion</vt:lpstr>
      <vt:lpstr>Insurance Data — Key Insights</vt:lpstr>
      <vt:lpstr>Business Overview — Key Metrics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mohd arman</dc:creator>
  <cp:keywords/>
  <dc:description>generated using python-pptx</dc:description>
  <cp:lastModifiedBy>mohd arman</cp:lastModifiedBy>
  <cp:revision>7</cp:revision>
  <dcterms:created xsi:type="dcterms:W3CDTF">2013-01-27T09:14:16Z</dcterms:created>
  <dcterms:modified xsi:type="dcterms:W3CDTF">2026-03-10T12:01:33Z</dcterms:modified>
  <cp:category/>
</cp:coreProperties>
</file>